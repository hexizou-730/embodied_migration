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wide"/>
  <p:notesSz cx="6858000" cy="9144000"/>
  <p:defaultTextStyle>
    <a:defPPr>
      <a:defRPr lang="zh-CN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594360"/>
            <a:ext cx="1078992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36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具身代码迁移项目进度汇报</a:t>
            </a:r>
            <a:endParaRPr lang="zh-CN" sz="3600" dirty="0"/>
          </a:p>
        </p:txBody>
      </p:sp>
      <p:sp>
        <p:nvSpPr>
          <p:cNvPr id="3" name="TextBox 3"/>
          <p:cNvSpPr txBox="1"/>
          <p:nvPr/>
        </p:nvSpPr>
        <p:spPr>
          <a:xfrm>
            <a:off x="713232" y="169164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8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Capability-Conditioned Failure-Driven Adaptation of LLM-Generated Robot Programs</a:t>
            </a:r>
            <a:endParaRPr lang="zh-CN" sz="1800" dirty="0"/>
          </a:p>
        </p:txBody>
      </p:sp>
      <p:cxnSp>
        <p:nvCxnSpPr>
          <p:cNvPr id="4" name="Line 4"/>
          <p:cNvCxnSpPr/>
          <p:nvPr/>
        </p:nvCxnSpPr>
        <p:spPr>
          <a:xfrm>
            <a:off x="685800" y="2423160"/>
            <a:ext cx="10835640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5"/>
          <p:cNvSpPr txBox="1"/>
          <p:nvPr/>
        </p:nvSpPr>
        <p:spPr>
          <a:xfrm>
            <a:off x="713232" y="2788920"/>
            <a:ext cx="1051560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2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当前状态：已完成三个 embodiment 的同任务演示与无 LLM 物理验证</a:t>
            </a:r>
            <a:endParaRPr lang="zh-CN" sz="2200" dirty="0"/>
          </a:p>
          <a:p>
            <a:r>
              <a:rPr lang="zh-CN" sz="22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核心任务：同时拿起红块和绿块，再同时放入黄色托盘</a:t>
            </a:r>
            <a:endParaRPr lang="zh-CN" sz="2200" dirty="0"/>
          </a:p>
          <a:p>
            <a:r>
              <a:rPr lang="zh-CN" sz="22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验证结果：三机器人 smoke demo 成功；seeded validation = 27/27</a:t>
            </a:r>
            <a:endParaRPr lang="zh-CN" sz="2200" dirty="0"/>
          </a:p>
        </p:txBody>
      </p:sp>
      <p:sp>
        <p:nvSpPr>
          <p:cNvPr id="6" name="TextBox 6"/>
          <p:cNvSpPr txBox="1"/>
          <p:nvPr/>
        </p:nvSpPr>
        <p:spPr>
          <a:xfrm>
            <a:off x="713232" y="5989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2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白底黑字简版 | 增补 Skill 与 B+A 说明</a:t>
            </a:r>
            <a:endParaRPr lang="zh-CN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8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1. 项目要解决什么问题</a:t>
            </a:r>
            <a:endParaRPr lang="zh-CN" sz="2800" dirty="0"/>
          </a:p>
        </p:txBody>
      </p:sp>
      <p:cxnSp>
        <p:nvCxnSpPr>
          <p:cNvPr id="3" name="Line 3"/>
          <p:cNvCxnSpPr/>
          <p:nvPr/>
        </p:nvCxnSpPr>
        <p:spPr>
          <a:xfrm>
            <a:off x="594360" y="1051560"/>
            <a:ext cx="10972800" cy="1"/>
          </a:xfrm>
          <a:prstGeom prst="line">
            <a:avLst/>
          </a:prstGeom>
          <a:ln w="10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4"/>
          <p:cNvSpPr txBox="1"/>
          <p:nvPr/>
        </p:nvSpPr>
        <p:spPr>
          <a:xfrm>
            <a:off x="777240" y="1417320"/>
            <a:ext cx="1042416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研究问题：同一个自然语言任务，在机器人身体能力发生变化时，LLM 生成的机器人程序如何迁移？</a:t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/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核心观点：代码迁移不是“同 prompt 生成不同代码”这么简单，而是：</a:t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保留可复用的任务结构</a:t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根据 capability card 添加或替换 embodiment-specific 代码</a:t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失败后用 failure report 促使代码修正</a:t>
            </a:r>
            <a:endParaRPr lang="zh-CN" sz="2100" dirty="0"/>
          </a:p>
        </p:txBody>
      </p:sp>
      <p:sp>
        <p:nvSpPr>
          <p:cNvPr id="5" name="TextBox 5"/>
          <p:cNvSpPr txBox="1"/>
          <p:nvPr/>
        </p:nvSpPr>
        <p:spPr>
          <a:xfrm>
            <a:off x="777240" y="557784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0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论文方向：Capability-Conditioned Failure-Driven Adaptation of LLM-Generated Robot Programs</a:t>
            </a:r>
            <a:endParaRPr lang="zh-C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8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2. B+A 模式怎么理解</a:t>
            </a:r>
            <a:endParaRPr lang="zh-CN" sz="2800" dirty="0"/>
          </a:p>
        </p:txBody>
      </p:sp>
      <p:cxnSp>
        <p:nvCxnSpPr>
          <p:cNvPr id="3" name="Line 3"/>
          <p:cNvCxnSpPr/>
          <p:nvPr/>
        </p:nvCxnSpPr>
        <p:spPr>
          <a:xfrm>
            <a:off x="594360" y="1051560"/>
            <a:ext cx="10972800" cy="1"/>
          </a:xfrm>
          <a:prstGeom prst="line">
            <a:avLst/>
          </a:prstGeom>
          <a:ln w="10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4"/>
          <p:cNvSpPr txBox="1"/>
          <p:nvPr/>
        </p:nvSpPr>
        <p:spPr>
          <a:xfrm>
            <a:off x="777240" y="1417320"/>
            <a:ext cx="1042416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9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A = Capability Card：机器人能力先验</a:t>
            </a:r>
            <a:endParaRPr lang="zh-CN" sz="1900" dirty="0"/>
          </a:p>
          <a:p>
            <a:r>
              <a:rPr lang="zh-CN" sz="19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告诉 LLM 机器人有什么能力、限制和推荐参数</a:t>
            </a:r>
            <a:endParaRPr lang="zh-CN" sz="1900" dirty="0"/>
          </a:p>
          <a:p>
            <a:r>
              <a:rPr lang="zh-CN" sz="19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例如 has_dual_arms、has_mobile_base、grasp_mechanism、recommended_release_height_m</a:t>
            </a:r>
            <a:endParaRPr lang="zh-CN" sz="1900" dirty="0"/>
          </a:p>
          <a:p>
            <a:r>
              <a:rPr lang="zh-CN" sz="19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/>
            </a:r>
            <a:endParaRPr lang="zh-CN" sz="1900" dirty="0"/>
          </a:p>
          <a:p>
            <a:r>
              <a:rPr lang="zh-CN" sz="19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B = Failure Report：失败驱动反馈</a:t>
            </a:r>
            <a:endParaRPr lang="zh-CN" sz="1900" dirty="0"/>
          </a:p>
          <a:p>
            <a:r>
              <a:rPr lang="zh-CN" sz="19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第一次生成代码失败后，把执行错误、API 返回 False、物理状态偏差整理成结构化反馈</a:t>
            </a:r>
            <a:endParaRPr lang="zh-CN" sz="1900" dirty="0"/>
          </a:p>
          <a:p>
            <a:r>
              <a:rPr lang="zh-CN" sz="19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LLM 基于反馈重新生成修正代码</a:t>
            </a:r>
            <a:endParaRPr lang="zh-CN" sz="1900" dirty="0"/>
          </a:p>
          <a:p>
            <a:r>
              <a:rPr lang="zh-CN" sz="19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/>
            </a:r>
            <a:endParaRPr lang="zh-CN" sz="1900" dirty="0"/>
          </a:p>
          <a:p>
            <a:r>
              <a:rPr lang="zh-CN" sz="19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B+A = 能力先验 + 失败修正</a:t>
            </a:r>
            <a:endParaRPr lang="zh-CN" sz="1900" dirty="0"/>
          </a:p>
          <a:p>
            <a:r>
              <a:rPr lang="zh-CN" sz="19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先用能力卡减少明显错误</a:t>
            </a:r>
            <a:endParaRPr lang="zh-CN" sz="1900" dirty="0"/>
          </a:p>
          <a:p>
            <a:r>
              <a:rPr lang="zh-CN" sz="19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再用失败报告做迭代适配</a:t>
            </a:r>
            <a:endParaRPr lang="zh-CN" sz="1900" dirty="0"/>
          </a:p>
        </p:txBody>
      </p:sp>
      <p:sp>
        <p:nvSpPr>
          <p:cNvPr id="5" name="TextBox 5"/>
          <p:cNvSpPr txBox="1"/>
          <p:nvPr/>
        </p:nvSpPr>
        <p:spPr>
          <a:xfrm>
            <a:off x="777240" y="557784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0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关键性质：B+A 是一种 condition + adaptation 的闭环，不只是多给一点 prompt。</a:t>
            </a:r>
            <a:endParaRPr lang="zh-C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8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3. Skill/API 与 Capability Card 的关系</a:t>
            </a:r>
            <a:endParaRPr lang="zh-CN" sz="2800" dirty="0"/>
          </a:p>
        </p:txBody>
      </p:sp>
      <p:cxnSp>
        <p:nvCxnSpPr>
          <p:cNvPr id="3" name="Line 3"/>
          <p:cNvCxnSpPr/>
          <p:nvPr/>
        </p:nvCxnSpPr>
        <p:spPr>
          <a:xfrm>
            <a:off x="594360" y="1051560"/>
            <a:ext cx="10972800" cy="1"/>
          </a:xfrm>
          <a:prstGeom prst="line">
            <a:avLst/>
          </a:prstGeom>
          <a:ln w="10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4"/>
          <p:cNvSpPr txBox="1"/>
          <p:nvPr/>
        </p:nvSpPr>
        <p:spPr>
          <a:xfrm>
            <a:off x="777240" y="1417320"/>
            <a:ext cx="1042416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Skill/API = 机器人可以被调用的动作函数</a:t>
            </a:r>
            <a:endParaRPr lang="zh-CN" sz="2000" dirty="0"/>
          </a:p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robot.lift_two_objects(...)</a:t>
            </a:r>
            <a:endParaRPr lang="zh-CN" sz="2000" dirty="0"/>
          </a:p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robot.place_two_objects(...)</a:t>
            </a:r>
            <a:endParaRPr lang="zh-CN" sz="2000" dirty="0"/>
          </a:p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mobile.navigate_to(...)</a:t>
            </a:r>
            <a:endParaRPr lang="zh-CN" sz="2000" dirty="0"/>
          </a:p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robot.pick_with_arm(...)</a:t>
            </a:r>
            <a:endParaRPr lang="zh-CN" sz="2000" dirty="0"/>
          </a:p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/>
            </a:r>
            <a:endParaRPr lang="zh-CN" sz="2000" dirty="0"/>
          </a:p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Capability Card = 机器人能力说明书</a:t>
            </a:r>
            <a:endParaRPr lang="zh-CN" sz="2000" dirty="0"/>
          </a:p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告诉 LLM 哪些 skill/API 更适合当前机器人</a:t>
            </a:r>
            <a:endParaRPr lang="zh-CN" sz="2000" dirty="0"/>
          </a:p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指导 LLM 如何设置关键参数，例如 release height</a:t>
            </a:r>
            <a:endParaRPr lang="zh-CN" sz="2000" dirty="0"/>
          </a:p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/>
            </a:r>
            <a:endParaRPr lang="zh-CN" sz="2000" dirty="0"/>
          </a:p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关系：</a:t>
            </a:r>
            <a:endParaRPr lang="zh-CN" sz="2000" dirty="0"/>
          </a:p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Capability Card 不是 skill 本身，而是指导 LLM 选择和组合 skill/API 的能力先验。</a:t>
            </a:r>
            <a:endParaRPr lang="zh-CN" sz="2000" dirty="0"/>
          </a:p>
        </p:txBody>
      </p:sp>
      <p:sp>
        <p:nvSpPr>
          <p:cNvPr id="5" name="TextBox 5"/>
          <p:cNvSpPr txBox="1"/>
          <p:nvPr/>
        </p:nvSpPr>
        <p:spPr>
          <a:xfrm>
            <a:off x="777240" y="557784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0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一句话：Card 负责“选什么技能、怎么用”；Skill/API 负责“真正执行动作”。</a:t>
            </a:r>
            <a:endParaRPr lang="zh-C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8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4. 目前已实现的三个机器人 embodiment</a:t>
            </a:r>
            <a:endParaRPr lang="zh-CN" sz="2800" dirty="0"/>
          </a:p>
        </p:txBody>
      </p:sp>
      <p:cxnSp>
        <p:nvCxnSpPr>
          <p:cNvPr id="3" name="Line 3"/>
          <p:cNvCxnSpPr/>
          <p:nvPr/>
        </p:nvCxnSpPr>
        <p:spPr>
          <a:xfrm>
            <a:off x="594360" y="1051560"/>
            <a:ext cx="10972800" cy="1"/>
          </a:xfrm>
          <a:prstGeom prst="line">
            <a:avLst/>
          </a:prstGeom>
          <a:ln w="10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4"/>
          <p:cNvSpPr txBox="1"/>
          <p:nvPr/>
        </p:nvSpPr>
        <p:spPr>
          <a:xfrm>
            <a:off x="731520" y="141732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2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dual_arm</a:t>
            </a:r>
            <a:endParaRPr lang="zh-CN" sz="2200" dirty="0"/>
          </a:p>
        </p:txBody>
      </p:sp>
      <p:sp>
        <p:nvSpPr>
          <p:cNvPr id="5" name="TextBox 5"/>
          <p:cNvSpPr txBox="1"/>
          <p:nvPr/>
        </p:nvSpPr>
        <p:spPr>
          <a:xfrm>
            <a:off x="4389120" y="141732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2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mobile_dual_arm</a:t>
            </a:r>
            <a:endParaRPr lang="zh-CN" sz="2200" dirty="0"/>
          </a:p>
        </p:txBody>
      </p:sp>
      <p:sp>
        <p:nvSpPr>
          <p:cNvPr id="6" name="TextBox 6"/>
          <p:cNvSpPr txBox="1"/>
          <p:nvPr/>
        </p:nvSpPr>
        <p:spPr>
          <a:xfrm>
            <a:off x="8046720" y="141732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2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dual_franka</a:t>
            </a:r>
            <a:endParaRPr lang="zh-CN" sz="2200" dirty="0"/>
          </a:p>
        </p:txBody>
      </p:sp>
      <p:cxnSp>
        <p:nvCxnSpPr>
          <p:cNvPr id="7" name="Line 7"/>
          <p:cNvCxnSpPr/>
          <p:nvPr/>
        </p:nvCxnSpPr>
        <p:spPr>
          <a:xfrm>
            <a:off x="731520" y="1874519"/>
            <a:ext cx="3337560" cy="1"/>
          </a:xfrm>
          <a:prstGeom prst="line">
            <a:avLst/>
          </a:prstGeom>
          <a:ln w="9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Line 8"/>
          <p:cNvCxnSpPr/>
          <p:nvPr/>
        </p:nvCxnSpPr>
        <p:spPr>
          <a:xfrm>
            <a:off x="4389120" y="1874519"/>
            <a:ext cx="3337559" cy="1"/>
          </a:xfrm>
          <a:prstGeom prst="line">
            <a:avLst/>
          </a:prstGeom>
          <a:ln w="9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ne 9"/>
          <p:cNvCxnSpPr/>
          <p:nvPr/>
        </p:nvCxnSpPr>
        <p:spPr>
          <a:xfrm>
            <a:off x="8046720" y="1874519"/>
            <a:ext cx="3337560" cy="1"/>
          </a:xfrm>
          <a:prstGeom prst="line">
            <a:avLst/>
          </a:prstGeom>
          <a:ln w="9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0"/>
          <p:cNvSpPr txBox="1"/>
          <p:nvPr/>
        </p:nvSpPr>
        <p:spPr>
          <a:xfrm>
            <a:off x="731520" y="2148840"/>
            <a:ext cx="329184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8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固定双臂 KUKA</a:t>
            </a:r>
            <a:endParaRPr lang="zh-CN" sz="1800" dirty="0"/>
          </a:p>
          <a:p>
            <a:r>
              <a:rPr lang="zh-CN" sz="18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吸盘 suction</a:t>
            </a:r>
            <a:endParaRPr lang="zh-CN" sz="1800" dirty="0"/>
          </a:p>
          <a:p>
            <a:r>
              <a:rPr lang="zh-CN" sz="18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不需要导航</a:t>
            </a:r>
            <a:endParaRPr lang="zh-CN" sz="1800" dirty="0"/>
          </a:p>
          <a:p>
            <a:r>
              <a:rPr lang="zh-CN" sz="18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低释放高度 0.005m</a:t>
            </a:r>
            <a:endParaRPr lang="zh-CN" sz="1800" dirty="0"/>
          </a:p>
          <a:p>
            <a:r>
              <a:rPr lang="zh-CN" sz="18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基线双臂协作机器人</a:t>
            </a:r>
            <a:endParaRPr lang="zh-CN" sz="1800" dirty="0"/>
          </a:p>
        </p:txBody>
      </p:sp>
      <p:sp>
        <p:nvSpPr>
          <p:cNvPr id="11" name="TextBox 11"/>
          <p:cNvSpPr txBox="1"/>
          <p:nvPr/>
        </p:nvSpPr>
        <p:spPr>
          <a:xfrm>
            <a:off x="4389120" y="2148840"/>
            <a:ext cx="329184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8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Husky + 双臂 KUKA</a:t>
            </a:r>
            <a:endParaRPr lang="zh-CN" sz="1800" dirty="0"/>
          </a:p>
          <a:p>
            <a:r>
              <a:rPr lang="zh-CN" sz="18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吸盘 suction</a:t>
            </a:r>
            <a:endParaRPr lang="zh-CN" sz="1800" dirty="0"/>
          </a:p>
          <a:p>
            <a:r>
              <a:rPr lang="zh-CN" sz="18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需要先 navigate_to</a:t>
            </a:r>
            <a:endParaRPr lang="zh-CN" sz="1800" dirty="0"/>
          </a:p>
          <a:p>
            <a:r>
              <a:rPr lang="zh-CN" sz="18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底盘改变可达性与左右臂分配</a:t>
            </a:r>
            <a:endParaRPr lang="zh-CN" sz="1800" dirty="0"/>
          </a:p>
          <a:p>
            <a:r>
              <a:rPr lang="zh-CN" sz="18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体现移动能力迁移</a:t>
            </a:r>
            <a:endParaRPr lang="zh-CN" sz="1800" dirty="0"/>
          </a:p>
        </p:txBody>
      </p:sp>
      <p:sp>
        <p:nvSpPr>
          <p:cNvPr id="12" name="TextBox 12"/>
          <p:cNvSpPr txBox="1"/>
          <p:nvPr/>
        </p:nvSpPr>
        <p:spPr>
          <a:xfrm>
            <a:off x="8046720" y="2148840"/>
            <a:ext cx="329184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8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固定双臂 Franka</a:t>
            </a:r>
            <a:endParaRPr lang="zh-CN" sz="1800" dirty="0"/>
          </a:p>
          <a:p>
            <a:r>
              <a:rPr lang="zh-CN" sz="18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平行夹爪 parallel jaw</a:t>
            </a:r>
            <a:endParaRPr lang="zh-CN" sz="1800" dirty="0"/>
          </a:p>
          <a:p>
            <a:r>
              <a:rPr lang="zh-CN" sz="18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不需要导航</a:t>
            </a:r>
            <a:endParaRPr lang="zh-CN" sz="1800" dirty="0"/>
          </a:p>
          <a:p>
            <a:r>
              <a:rPr lang="zh-CN" sz="18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推荐释放高度 0.03m</a:t>
            </a:r>
            <a:endParaRPr lang="zh-CN" sz="1800" dirty="0"/>
          </a:p>
          <a:p>
            <a:r>
              <a:rPr lang="zh-CN" sz="18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体现夹爪/释放策略迁移</a:t>
            </a:r>
            <a:endParaRPr lang="zh-CN" sz="1800" dirty="0"/>
          </a:p>
        </p:txBody>
      </p:sp>
      <p:sp>
        <p:nvSpPr>
          <p:cNvPr id="13" name="TextBox 13"/>
          <p:cNvSpPr txBox="1"/>
          <p:nvPr/>
        </p:nvSpPr>
        <p:spPr>
          <a:xfrm>
            <a:off x="777240" y="507492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0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三者共享同一高层任务 API：lift_two_objects(...) + place_two_objects(...)</a:t>
            </a:r>
            <a:endParaRPr lang="zh-C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8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5. 同一任务：双块同时入盘</a:t>
            </a:r>
            <a:endParaRPr lang="zh-CN" sz="2800" dirty="0"/>
          </a:p>
        </p:txBody>
      </p:sp>
      <p:cxnSp>
        <p:nvCxnSpPr>
          <p:cNvPr id="3" name="Line 3"/>
          <p:cNvCxnSpPr/>
          <p:nvPr/>
        </p:nvCxnSpPr>
        <p:spPr>
          <a:xfrm>
            <a:off x="594360" y="1051560"/>
            <a:ext cx="10972800" cy="1"/>
          </a:xfrm>
          <a:prstGeom prst="line">
            <a:avLst/>
          </a:prstGeom>
          <a:ln w="10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4"/>
          <p:cNvSpPr txBox="1"/>
          <p:nvPr/>
        </p:nvSpPr>
        <p:spPr>
          <a:xfrm>
            <a:off x="777240" y="1417320"/>
            <a:ext cx="1042416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自然语言任务：Pick up the red block and the green block at the same time, then place both blocks into the yellow tray at the same time.</a:t>
            </a:r>
            <a:endParaRPr lang="zh-CN" sz="2000" dirty="0"/>
          </a:p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/>
            </a:r>
            <a:endParaRPr lang="zh-CN" sz="2000" dirty="0"/>
          </a:p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成功判定：</a:t>
            </a:r>
            <a:endParaRPr lang="zh-CN" sz="2000" dirty="0"/>
          </a:p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red block 距离 yellow tray &lt; 0.20m</a:t>
            </a:r>
            <a:endParaRPr lang="zh-CN" sz="2000" dirty="0"/>
          </a:p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green block 距离 yellow tray &lt; 0.20m</a:t>
            </a:r>
            <a:endParaRPr lang="zh-CN" sz="2000" dirty="0"/>
          </a:p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两个方块均已低高度释放</a:t>
            </a:r>
            <a:endParaRPr lang="zh-CN" sz="2000" dirty="0"/>
          </a:p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API 返回 success</a:t>
            </a:r>
            <a:endParaRPr lang="zh-CN" sz="2000" dirty="0"/>
          </a:p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/>
            </a:r>
            <a:endParaRPr lang="zh-CN" sz="2000" dirty="0"/>
          </a:p>
          <a:p>
            <a:r>
              <a:rPr lang="zh-CN" sz="20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当前验证：dual_arm / mobile_dual_arm / dual_franka 均成功；seeded validation 通过。</a:t>
            </a:r>
            <a:endParaRPr lang="zh-CN" sz="2000" dirty="0"/>
          </a:p>
        </p:txBody>
      </p:sp>
      <p:sp>
        <p:nvSpPr>
          <p:cNvPr id="5" name="TextBox 5"/>
          <p:cNvSpPr txBox="1"/>
          <p:nvPr/>
        </p:nvSpPr>
        <p:spPr>
          <a:xfrm>
            <a:off x="777240" y="557784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0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意义：任务目标保持不变，迁移发生在机器人能力相关代码上。</a:t>
            </a:r>
            <a:endParaRPr lang="zh-CN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8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6. 代码迁移对比：共享结构 + 能力适配</a:t>
            </a:r>
            <a:endParaRPr lang="zh-CN" sz="2800" dirty="0"/>
          </a:p>
        </p:txBody>
      </p:sp>
      <p:cxnSp>
        <p:nvCxnSpPr>
          <p:cNvPr id="3" name="Line 3"/>
          <p:cNvCxnSpPr/>
          <p:nvPr/>
        </p:nvCxnSpPr>
        <p:spPr>
          <a:xfrm>
            <a:off x="594360" y="1051560"/>
            <a:ext cx="10972800" cy="1"/>
          </a:xfrm>
          <a:prstGeom prst="line">
            <a:avLst/>
          </a:prstGeom>
          <a:ln w="10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4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8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A. 固定双臂 KUKA</a:t>
            </a:r>
            <a:endParaRPr lang="zh-CN" sz="1800" dirty="0"/>
          </a:p>
        </p:txBody>
      </p:sp>
      <p:sp>
        <p:nvSpPr>
          <p:cNvPr id="5" name="TextBox 5"/>
          <p:cNvSpPr txBox="1"/>
          <p:nvPr/>
        </p:nvSpPr>
        <p:spPr>
          <a:xfrm>
            <a:off x="4343400" y="13258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8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B. 移动双臂 KUKA</a:t>
            </a:r>
            <a:endParaRPr lang="zh-CN" sz="1800" dirty="0"/>
          </a:p>
        </p:txBody>
      </p:sp>
      <p:sp>
        <p:nvSpPr>
          <p:cNvPr id="6" name="TextBox 6"/>
          <p:cNvSpPr txBox="1"/>
          <p:nvPr/>
        </p:nvSpPr>
        <p:spPr>
          <a:xfrm>
            <a:off x="8001000" y="13258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8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C. 固定双臂 Franka</a:t>
            </a:r>
            <a:endParaRPr lang="zh-CN" sz="1800" dirty="0"/>
          </a:p>
        </p:txBody>
      </p:sp>
      <p:sp>
        <p:nvSpPr>
          <p:cNvPr id="7" name="TextBox 7"/>
          <p:cNvSpPr txBox="1"/>
          <p:nvPr/>
        </p:nvSpPr>
        <p:spPr>
          <a:xfrm>
            <a:off x="685800" y="1783080"/>
            <a:ext cx="3383280" cy="3611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10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>red_pos = scene.get_object_position('red block')</a:t>
            </a:r>
            <a:endParaRPr lang="zh-CN" sz="1100" dirty="0"/>
          </a:p>
          <a:p>
            <a:r>
              <a:rPr lang="zh-CN" sz="110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>green_pos = scene.get_object_position('green block')</a:t>
            </a:r>
            <a:endParaRPr lang="zh-CN" sz="1100" dirty="0"/>
          </a:p>
          <a:p>
            <a:r>
              <a:rPr lang="zh-CN" sz="110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>tray_pos = scene.get_object_position('yellow tray')</a:t>
            </a:r>
            <a:endParaRPr lang="zh-CN" sz="1100" dirty="0"/>
          </a:p>
          <a:p>
            <a:r>
              <a:rPr lang="zh-CN" sz="110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/>
            </a:r>
            <a:endParaRPr lang="zh-CN" sz="1100" dirty="0"/>
          </a:p>
          <a:p>
            <a:r>
              <a:rPr lang="zh-CN" sz="110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>lift_ok = robot.lift_two_objects(red_pos, green_pos)</a:t>
            </a:r>
            <a:endParaRPr lang="zh-CN" sz="1100" dirty="0"/>
          </a:p>
          <a:p>
            <a:r>
              <a:rPr lang="zh-CN" sz="110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>place_ok = robot.place_two_objects(red_target, green_target, pre_release_height=0.005)</a:t>
            </a:r>
            <a:endParaRPr lang="zh-CN" sz="1100" dirty="0"/>
          </a:p>
        </p:txBody>
      </p:sp>
      <p:sp>
        <p:nvSpPr>
          <p:cNvPr id="8" name="TextBox 8"/>
          <p:cNvSpPr txBox="1"/>
          <p:nvPr/>
        </p:nvSpPr>
        <p:spPr>
          <a:xfrm>
            <a:off x="4343400" y="1783080"/>
            <a:ext cx="3383280" cy="3611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05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>table_x, table_y = scene.table_position[:2]</a:t>
            </a:r>
            <a:endParaRPr lang="zh-CN" sz="1050" dirty="0"/>
          </a:p>
          <a:p>
            <a:r>
              <a:rPr lang="zh-CN" sz="105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>mobile.navigate_to(table_x, table_y + clearance)</a:t>
            </a:r>
            <a:endParaRPr lang="zh-CN" sz="1050" dirty="0"/>
          </a:p>
          <a:p>
            <a:r>
              <a:rPr lang="zh-CN" sz="105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/>
            </a:r>
            <a:endParaRPr lang="zh-CN" sz="1050" dirty="0"/>
          </a:p>
          <a:p>
            <a:r>
              <a:rPr lang="zh-CN" sz="105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>red_pos = scene.get_object_position('red block')</a:t>
            </a:r>
            <a:endParaRPr lang="zh-CN" sz="1050" dirty="0"/>
          </a:p>
          <a:p>
            <a:r>
              <a:rPr lang="zh-CN" sz="105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>green_pos = scene.get_object_position('green block')</a:t>
            </a:r>
            <a:endParaRPr lang="zh-CN" sz="1050" dirty="0"/>
          </a:p>
          <a:p>
            <a:r>
              <a:rPr lang="zh-CN" sz="105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/>
            </a:r>
            <a:endParaRPr lang="zh-CN" sz="1050" dirty="0"/>
          </a:p>
          <a:p>
            <a:r>
              <a:rPr lang="zh-CN" sz="105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>lift_ok = robot.lift_two_objects(red_pos, green_pos)</a:t>
            </a:r>
            <a:endParaRPr lang="zh-CN" sz="1050" dirty="0"/>
          </a:p>
          <a:p>
            <a:r>
              <a:rPr lang="zh-CN" sz="105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>place_ok = robot.place_two_objects(red_target, green_target, pre_release_height=0.005)</a:t>
            </a:r>
            <a:endParaRPr lang="zh-CN" sz="1050" dirty="0"/>
          </a:p>
        </p:txBody>
      </p:sp>
      <p:sp>
        <p:nvSpPr>
          <p:cNvPr id="9" name="TextBox 9"/>
          <p:cNvSpPr txBox="1"/>
          <p:nvPr/>
        </p:nvSpPr>
        <p:spPr>
          <a:xfrm>
            <a:off x="8001000" y="1783080"/>
            <a:ext cx="3383280" cy="3611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05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>red_pos = scene.get_object_position('red block')</a:t>
            </a:r>
            <a:endParaRPr lang="zh-CN" sz="1050" dirty="0"/>
          </a:p>
          <a:p>
            <a:r>
              <a:rPr lang="zh-CN" sz="105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>green_pos = scene.get_object_position('green block')</a:t>
            </a:r>
            <a:endParaRPr lang="zh-CN" sz="1050" dirty="0"/>
          </a:p>
          <a:p>
            <a:r>
              <a:rPr lang="zh-CN" sz="105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>tray_pos = scene.get_object_position('yellow tray')</a:t>
            </a:r>
            <a:endParaRPr lang="zh-CN" sz="1050" dirty="0"/>
          </a:p>
          <a:p>
            <a:r>
              <a:rPr lang="zh-CN" sz="105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>release_h = robot.capability_card.recommended_release_height_m</a:t>
            </a:r>
            <a:endParaRPr lang="zh-CN" sz="1050" dirty="0"/>
          </a:p>
          <a:p>
            <a:r>
              <a:rPr lang="zh-CN" sz="105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/>
            </a:r>
            <a:endParaRPr lang="zh-CN" sz="1050" dirty="0"/>
          </a:p>
          <a:p>
            <a:r>
              <a:rPr lang="zh-CN" sz="105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>lift_ok = robot.lift_two_objects(red_pos, green_pos)</a:t>
            </a:r>
            <a:endParaRPr lang="zh-CN" sz="1050" dirty="0"/>
          </a:p>
          <a:p>
            <a:r>
              <a:rPr lang="zh-CN" sz="1050" dirty="0">
                <a:solidFill>
                  <a:srgbClr val="000000"/>
                </a:solidFill>
                <a:latin typeface="Menlo"/>
                <a:ea typeface="PingFang SC"/>
                <a:cs typeface="Menlo"/>
              </a:rPr>
              <a:t>place_ok = robot.place_two_objects(red_target, green_target, pre_release_height=release_h)</a:t>
            </a:r>
            <a:endParaRPr lang="zh-CN" sz="1050" dirty="0"/>
          </a:p>
        </p:txBody>
      </p:sp>
      <p:sp>
        <p:nvSpPr>
          <p:cNvPr id="10" name="TextBox 10"/>
          <p:cNvSpPr txBox="1"/>
          <p:nvPr/>
        </p:nvSpPr>
        <p:spPr>
          <a:xfrm>
            <a:off x="777240" y="56235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8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迁移含义：核心任务程序保持一致；移动机器人添加导航；Franka 根据夹爪能力调整释放策略。</a:t>
            </a:r>
            <a:endParaRPr lang="zh-CN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8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7. 已完成的工程进度</a:t>
            </a:r>
            <a:endParaRPr lang="zh-CN" sz="2800" dirty="0"/>
          </a:p>
        </p:txBody>
      </p:sp>
      <p:cxnSp>
        <p:nvCxnSpPr>
          <p:cNvPr id="3" name="Line 3"/>
          <p:cNvCxnSpPr/>
          <p:nvPr/>
        </p:nvCxnSpPr>
        <p:spPr>
          <a:xfrm>
            <a:off x="594360" y="1051560"/>
            <a:ext cx="10972800" cy="1"/>
          </a:xfrm>
          <a:prstGeom prst="line">
            <a:avLst/>
          </a:prstGeom>
          <a:ln w="10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4"/>
          <p:cNvSpPr txBox="1"/>
          <p:nvPr/>
        </p:nvSpPr>
        <p:spPr>
          <a:xfrm>
            <a:off x="777240" y="1417320"/>
            <a:ext cx="1042416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新增 mobile_dual_arm：解决移动双臂任务，并避免底盘穿模</a:t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新增 dual_franka：第三个 embodiment，用于夹爪/释放策略迁移对比</a:t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新增 coordinated API：lift_two_objects / place_two_objects</a:t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prompt 中加入 mobile + dual-arm API hint</a:t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benchmark 中加入 lift_red_green_together_to_tray 任务</a:t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logging 中记录 coordinated lift/place 等代码特征</a:t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validation 支持三机器人 seeded 检查</a:t>
            </a:r>
            <a:endParaRPr lang="zh-CN" sz="2100" dirty="0"/>
          </a:p>
        </p:txBody>
      </p:sp>
      <p:sp>
        <p:nvSpPr>
          <p:cNvPr id="5" name="TextBox 5"/>
          <p:cNvSpPr txBox="1"/>
          <p:nvPr/>
        </p:nvSpPr>
        <p:spPr>
          <a:xfrm>
            <a:off x="777240" y="557784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0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当前已经具备：演示、无 LLM 验证、后续 LLM 实验入口。</a:t>
            </a:r>
            <a:endParaRPr lang="zh-CN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8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8. 下一步计划</a:t>
            </a:r>
            <a:endParaRPr lang="zh-CN" sz="2800" dirty="0"/>
          </a:p>
        </p:txBody>
      </p:sp>
      <p:cxnSp>
        <p:nvCxnSpPr>
          <p:cNvPr id="3" name="Line 3"/>
          <p:cNvCxnSpPr/>
          <p:nvPr/>
        </p:nvCxnSpPr>
        <p:spPr>
          <a:xfrm>
            <a:off x="594360" y="1051560"/>
            <a:ext cx="10972800" cy="1"/>
          </a:xfrm>
          <a:prstGeom prst="line">
            <a:avLst/>
          </a:prstGeom>
          <a:ln w="100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4"/>
          <p:cNvSpPr txBox="1"/>
          <p:nvPr/>
        </p:nvSpPr>
        <p:spPr>
          <a:xfrm>
            <a:off x="777240" y="1417320"/>
            <a:ext cx="10424160" cy="429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短期：</a:t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用同一 prompt 调用 LLM，分别生成 dual_arm / mobile_dual_arm / dual_franka 代码</a:t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保存生成代码，做 diff 和特征统计</a:t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跑严格 baseline：api / fewshot / card / failure / card_failure</a:t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/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论文实验：</a:t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成功率统计表</a:t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失败类型分析</a:t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ablation study</a:t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典型失败案例和修正轨迹</a:t>
            </a:r>
            <a:endParaRPr lang="zh-CN" sz="2100" dirty="0"/>
          </a:p>
          <a:p>
            <a:r>
              <a:rPr lang="zh-CN" sz="2100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• 代码迁移差异分析</a:t>
            </a:r>
            <a:endParaRPr lang="zh-CN" sz="2100" dirty="0"/>
          </a:p>
        </p:txBody>
      </p:sp>
      <p:sp>
        <p:nvSpPr>
          <p:cNvPr id="5" name="TextBox 5"/>
          <p:cNvSpPr txBox="1"/>
          <p:nvPr/>
        </p:nvSpPr>
        <p:spPr>
          <a:xfrm>
            <a:off x="777240" y="557784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2000" b="1" dirty="0">
                <a:solidFill>
                  <a:srgbClr val="000000"/>
                </a:solidFill>
                <a:latin typeface="Arial"/>
                <a:ea typeface="PingFang SC"/>
                <a:cs typeface="Arial"/>
              </a:rPr>
              <a:t>目标：把“演示可行”推进到“论文可报告的系统实验”。</a:t>
            </a:r>
            <a:endParaRPr lang="zh-C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 White">
  <a:themeElements>
    <a:clrScheme name="BlackWhit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PingFang SC"/>
        <a:cs typeface="Arial"/>
      </a:majorFont>
      <a:minorFont>
        <a:latin typeface="Arial"/>
        <a:ea typeface="PingFang SC"/>
        <a:cs typeface="Arial"/>
      </a:minorFont>
    </a:fontScheme>
    <a:fmtScheme name="Simpl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9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9</vt:i4>
      </vt:variant>
    </vt:vector>
  </HeadingPairs>
  <TitlesOfParts>
    <vt:vector size="9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具身代码迁移项目进度汇报</dc:title>
  <dc:creator>Codex</dc:creator>
  <cp:lastModifiedBy>Codex</cp:lastModifiedBy>
  <dcterms:created xsi:type="dcterms:W3CDTF">2026-05-04T20:44:17Z</dcterms:created>
  <dcterms:modified xsi:type="dcterms:W3CDTF">2026-05-04T20:44:17Z</dcterms:modified>
</cp:coreProperties>
</file>